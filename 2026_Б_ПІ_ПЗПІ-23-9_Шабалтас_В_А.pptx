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59" r:id="rId6"/>
    <p:sldId id="260" r:id="rId7"/>
    <p:sldId id="262" r:id="rId8"/>
    <p:sldId id="263" r:id="rId9"/>
    <p:sldId id="265" r:id="rId10"/>
    <p:sldId id="272" r:id="rId11"/>
    <p:sldId id="273" r:id="rId12"/>
    <p:sldId id="274" r:id="rId13"/>
    <p:sldId id="275" r:id="rId14"/>
    <p:sldId id="276" r:id="rId15"/>
    <p:sldId id="267" r:id="rId16"/>
  </p:sldIdLst>
  <p:sldSz cx="9144000" cy="51435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>
            <a:extLst>
              <a:ext uri="{FF2B5EF4-FFF2-40B4-BE49-F238E27FC236}">
                <a16:creationId xmlns:a16="http://schemas.microsoft.com/office/drawing/2014/main" id="{2A4D5778-E4DD-F70E-A8F3-DDBA5E167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295" y="685800"/>
            <a:ext cx="6096076" cy="3429000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round/>
          </a:ln>
        </p:spPr>
      </p:sp>
      <p:sp>
        <p:nvSpPr>
          <p:cNvPr id="3" name="Google Shape;4;n">
            <a:extLst>
              <a:ext uri="{FF2B5EF4-FFF2-40B4-BE49-F238E27FC236}">
                <a16:creationId xmlns:a16="http://schemas.microsoft.com/office/drawing/2014/main" id="{E5CA1DAB-CD15-FFF9-7FBE-8ADC156B75F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760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0" marR="0" lvl="0" indent="-298451" algn="l" defTabSz="914400" rtl="0" fontAlgn="auto" hangingPunct="1">
      <a:lnSpc>
        <a:spcPct val="100000"/>
      </a:lnSpc>
      <a:spcBef>
        <a:spcPts val="0"/>
      </a:spcBef>
      <a:spcAft>
        <a:spcPts val="0"/>
      </a:spcAft>
      <a:buClr>
        <a:srgbClr val="000000"/>
      </a:buClr>
      <a:buSzPts val="1100"/>
      <a:buFont typeface="Arial"/>
      <a:buChar char="●"/>
      <a:tabLst/>
      <a:defRPr lang="uk-UA" sz="1100" b="0" i="0" u="none" strike="noStrike" kern="0" cap="none" spc="0" baseline="0">
        <a:solidFill>
          <a:srgbClr val="000000"/>
        </a:solidFill>
        <a:uFillTx/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9;p:notes">
            <a:extLst>
              <a:ext uri="{FF2B5EF4-FFF2-40B4-BE49-F238E27FC236}">
                <a16:creationId xmlns:a16="http://schemas.microsoft.com/office/drawing/2014/main" id="{19156AA2-6E8C-AC99-162E-354F99CDC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60;p:notes">
            <a:extLst>
              <a:ext uri="{FF2B5EF4-FFF2-40B4-BE49-F238E27FC236}">
                <a16:creationId xmlns:a16="http://schemas.microsoft.com/office/drawing/2014/main" id="{9E29F5CB-2238-686B-59F0-5A1EA2F1D0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8;g20ddf966691_0_162:notes">
            <a:extLst>
              <a:ext uri="{FF2B5EF4-FFF2-40B4-BE49-F238E27FC236}">
                <a16:creationId xmlns:a16="http://schemas.microsoft.com/office/drawing/2014/main" id="{D5BFD362-5D11-A86E-4A0E-1B0A23DF6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69;g20ddf966691_0_162:notes">
            <a:extLst>
              <a:ext uri="{FF2B5EF4-FFF2-40B4-BE49-F238E27FC236}">
                <a16:creationId xmlns:a16="http://schemas.microsoft.com/office/drawing/2014/main" id="{E0BAC72E-9E4F-6E38-064D-477F96ABA8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g2e16b2adad1_0_0:notes">
            <a:extLst>
              <a:ext uri="{FF2B5EF4-FFF2-40B4-BE49-F238E27FC236}">
                <a16:creationId xmlns:a16="http://schemas.microsoft.com/office/drawing/2014/main" id="{92B1BE34-B829-327A-9BBD-763F3B2C2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76;g2e16b2adad1_0_0:notes">
            <a:extLst>
              <a:ext uri="{FF2B5EF4-FFF2-40B4-BE49-F238E27FC236}">
                <a16:creationId xmlns:a16="http://schemas.microsoft.com/office/drawing/2014/main" id="{FE013285-0B31-C8EF-8CEF-9E3544DD41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g2e16b2adad1_0_0:notes">
            <a:extLst>
              <a:ext uri="{FF2B5EF4-FFF2-40B4-BE49-F238E27FC236}">
                <a16:creationId xmlns:a16="http://schemas.microsoft.com/office/drawing/2014/main" id="{22469920-9ED4-307E-D373-9A8CEBEE5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76;g2e16b2adad1_0_0:notes">
            <a:extLst>
              <a:ext uri="{FF2B5EF4-FFF2-40B4-BE49-F238E27FC236}">
                <a16:creationId xmlns:a16="http://schemas.microsoft.com/office/drawing/2014/main" id="{F4E1E24E-106D-86A6-49AC-C81EF4EEBA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g2e16b2adad1_0_6:notes">
            <a:extLst>
              <a:ext uri="{FF2B5EF4-FFF2-40B4-BE49-F238E27FC236}">
                <a16:creationId xmlns:a16="http://schemas.microsoft.com/office/drawing/2014/main" id="{44BF47F8-D6B5-7DE6-0DE3-EA9BA3369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83;g2e16b2adad1_0_6:notes">
            <a:extLst>
              <a:ext uri="{FF2B5EF4-FFF2-40B4-BE49-F238E27FC236}">
                <a16:creationId xmlns:a16="http://schemas.microsoft.com/office/drawing/2014/main" id="{DDF03A52-BAB1-6E80-C050-9B86C9F48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9;g2e16b2adad1_0_12:notes">
            <a:extLst>
              <a:ext uri="{FF2B5EF4-FFF2-40B4-BE49-F238E27FC236}">
                <a16:creationId xmlns:a16="http://schemas.microsoft.com/office/drawing/2014/main" id="{5D668223-BAD6-BF9D-C2D7-5983EFCBF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90;g2e16b2adad1_0_12:notes">
            <a:extLst>
              <a:ext uri="{FF2B5EF4-FFF2-40B4-BE49-F238E27FC236}">
                <a16:creationId xmlns:a16="http://schemas.microsoft.com/office/drawing/2014/main" id="{702230B3-8A59-9761-FC38-E70AB3E260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3;g2e16b2adad1_0_24:notes">
            <a:extLst>
              <a:ext uri="{FF2B5EF4-FFF2-40B4-BE49-F238E27FC236}">
                <a16:creationId xmlns:a16="http://schemas.microsoft.com/office/drawing/2014/main" id="{BFE1566E-9AAF-6372-6CD4-02BF0D04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04;g2e16b2adad1_0_24:notes">
            <a:extLst>
              <a:ext uri="{FF2B5EF4-FFF2-40B4-BE49-F238E27FC236}">
                <a16:creationId xmlns:a16="http://schemas.microsoft.com/office/drawing/2014/main" id="{37A6E697-5811-07E0-C018-8E58846408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;g2e16b2adad1_0_30:notes">
            <a:extLst>
              <a:ext uri="{FF2B5EF4-FFF2-40B4-BE49-F238E27FC236}">
                <a16:creationId xmlns:a16="http://schemas.microsoft.com/office/drawing/2014/main" id="{3A5E908E-2DB5-8A85-65B4-A62E66C42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11;g2e16b2adad1_0_30:notes">
            <a:extLst>
              <a:ext uri="{FF2B5EF4-FFF2-40B4-BE49-F238E27FC236}">
                <a16:creationId xmlns:a16="http://schemas.microsoft.com/office/drawing/2014/main" id="{F0EB3B7D-7FCC-D57C-8CDA-FB6A78F10B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BA885D38-B043-EAFC-B972-E92FA2862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69CA2FFD-FC4A-8033-7EFC-5AD2385156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6F6B210D-0580-C387-DEB9-44DC631DA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E13F7AD0-B72A-5E12-B289-68A4C07061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73C631A5-4B97-C79A-5D03-D0406C630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90970B8E-363C-2195-A92B-5D726DA3A4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D999F128-9F87-EE63-D265-83A9282F3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045D2219-1C8E-5EA4-31A2-208BB3E8BA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02EA26EB-6311-A79E-7F0E-2E3F1DD94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50BC9233-62DF-57A2-F6CB-1176B4FBDA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g2e16b2adad1_0_40:notes">
            <a:extLst>
              <a:ext uri="{FF2B5EF4-FFF2-40B4-BE49-F238E27FC236}">
                <a16:creationId xmlns:a16="http://schemas.microsoft.com/office/drawing/2014/main" id="{D039CFB9-38A2-D4E8-E0F9-BE6B38F9F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25;g2e16b2adad1_0_40:notes">
            <a:extLst>
              <a:ext uri="{FF2B5EF4-FFF2-40B4-BE49-F238E27FC236}">
                <a16:creationId xmlns:a16="http://schemas.microsoft.com/office/drawing/2014/main" id="{D21356B7-5C56-228A-6D64-0D09BA4624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8;g2e16b2adad1_0_50:notes">
            <a:extLst>
              <a:ext uri="{FF2B5EF4-FFF2-40B4-BE49-F238E27FC236}">
                <a16:creationId xmlns:a16="http://schemas.microsoft.com/office/drawing/2014/main" id="{6BDE7089-773E-B409-12FE-9DC76BD34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3" y="685800"/>
            <a:ext cx="6096003" cy="3429000"/>
          </a:xfrm>
        </p:spPr>
      </p:sp>
      <p:sp>
        <p:nvSpPr>
          <p:cNvPr id="3" name="Google Shape;139;g2e16b2adad1_0_50:notes">
            <a:extLst>
              <a:ext uri="{FF2B5EF4-FFF2-40B4-BE49-F238E27FC236}">
                <a16:creationId xmlns:a16="http://schemas.microsoft.com/office/drawing/2014/main" id="{58A227E8-B1B6-1F79-6C33-C02BB8917E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C9795A7C-C3D9-8183-0BC0-C276538DD537}"/>
              </a:ext>
            </a:extLst>
          </p:cNvPr>
          <p:cNvSpPr/>
          <p:nvPr/>
        </p:nvSpPr>
        <p:spPr>
          <a:xfrm>
            <a:off x="2744013" y="756702"/>
            <a:ext cx="1081625" cy="1124949"/>
          </a:xfrm>
          <a:custGeom>
            <a:avLst/>
            <a:gdLst>
              <a:gd name="f0" fmla="val w"/>
              <a:gd name="f1" fmla="val h"/>
              <a:gd name="f2" fmla="val 0"/>
              <a:gd name="f3" fmla="val 43265"/>
              <a:gd name="f4" fmla="val 44998"/>
              <a:gd name="f5" fmla="*/ f0 1 43265"/>
              <a:gd name="f6" fmla="*/ f1 1 44998"/>
              <a:gd name="f7" fmla="+- f4 0 f2"/>
              <a:gd name="f8" fmla="+- f3 0 f2"/>
              <a:gd name="f9" fmla="*/ f8 1 43265"/>
              <a:gd name="f10" fmla="*/ f7 1 4499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3265" h="44998">
                <a:moveTo>
                  <a:pt x="f2" y="f4"/>
                </a:moveTo>
                <a:lnTo>
                  <a:pt x="f2" y="f2"/>
                </a:lnTo>
                <a:lnTo>
                  <a:pt x="f3" y="f2"/>
                </a:lnTo>
              </a:path>
            </a:pathLst>
          </a:custGeom>
          <a:noFill/>
          <a:ln w="28575" cap="flat">
            <a:solidFill>
              <a:srgbClr val="CCA677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1;p2">
            <a:extLst>
              <a:ext uri="{FF2B5EF4-FFF2-40B4-BE49-F238E27FC236}">
                <a16:creationId xmlns:a16="http://schemas.microsoft.com/office/drawing/2014/main" id="{98A8DFC2-2298-7B21-090E-3C52F3A1C572}"/>
              </a:ext>
            </a:extLst>
          </p:cNvPr>
          <p:cNvSpPr/>
          <p:nvPr/>
        </p:nvSpPr>
        <p:spPr>
          <a:xfrm rot="10799991">
            <a:off x="5318351" y="3266721"/>
            <a:ext cx="1081625" cy="1124949"/>
          </a:xfrm>
          <a:custGeom>
            <a:avLst/>
            <a:gdLst>
              <a:gd name="f0" fmla="val w"/>
              <a:gd name="f1" fmla="val h"/>
              <a:gd name="f2" fmla="val 0"/>
              <a:gd name="f3" fmla="val 43265"/>
              <a:gd name="f4" fmla="val 44998"/>
              <a:gd name="f5" fmla="*/ f0 1 43265"/>
              <a:gd name="f6" fmla="*/ f1 1 44998"/>
              <a:gd name="f7" fmla="+- f4 0 f2"/>
              <a:gd name="f8" fmla="+- f3 0 f2"/>
              <a:gd name="f9" fmla="*/ f8 1 43265"/>
              <a:gd name="f10" fmla="*/ f7 1 4499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3265" h="44998">
                <a:moveTo>
                  <a:pt x="f2" y="f4"/>
                </a:moveTo>
                <a:lnTo>
                  <a:pt x="f2" y="f2"/>
                </a:lnTo>
                <a:lnTo>
                  <a:pt x="f3" y="f2"/>
                </a:lnTo>
              </a:path>
            </a:pathLst>
          </a:custGeom>
          <a:noFill/>
          <a:ln w="28575" cap="flat">
            <a:solidFill>
              <a:srgbClr val="CCA677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2;p2">
            <a:extLst>
              <a:ext uri="{FF2B5EF4-FFF2-40B4-BE49-F238E27FC236}">
                <a16:creationId xmlns:a16="http://schemas.microsoft.com/office/drawing/2014/main" id="{148E06B2-E0EE-A9AE-AEE7-87DF287EDD0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44695" y="1444258"/>
            <a:ext cx="3054598" cy="1537197"/>
          </a:xfrm>
        </p:spPr>
        <p:txBody>
          <a:bodyPr anchorCtr="1"/>
          <a:lstStyle>
            <a:lvl1pPr algn="ctr">
              <a:defRPr lang="ru-RU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5" name="Google Shape;13;p2">
            <a:extLst>
              <a:ext uri="{FF2B5EF4-FFF2-40B4-BE49-F238E27FC236}">
                <a16:creationId xmlns:a16="http://schemas.microsoft.com/office/drawing/2014/main" id="{9F57AC47-340B-98B3-E8B2-AAE45072C7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44695" y="3116576"/>
            <a:ext cx="3054598" cy="701399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lang="ru-RU" sz="2100">
                <a:latin typeface="Economica"/>
                <a:ea typeface="Economica"/>
                <a:cs typeface="Economica"/>
              </a:defRPr>
            </a:lvl1pPr>
          </a:lstStyle>
          <a:p>
            <a:pPr lvl="0"/>
            <a:r>
              <a:rPr lang="ru-RU"/>
              <a:t>Клацніть, щоб редагувати стиль зразка підзаголовка</a:t>
            </a:r>
          </a:p>
        </p:txBody>
      </p:sp>
      <p:sp>
        <p:nvSpPr>
          <p:cNvPr id="6" name="Google Shape;14;p2">
            <a:extLst>
              <a:ext uri="{FF2B5EF4-FFF2-40B4-BE49-F238E27FC236}">
                <a16:creationId xmlns:a16="http://schemas.microsoft.com/office/drawing/2014/main" id="{0B0E9549-6F0D-CCA1-3EB4-153644E393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687F1B-B450-4B78-8290-979ED52F7729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81560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3">
            <a:extLst>
              <a:ext uri="{FF2B5EF4-FFF2-40B4-BE49-F238E27FC236}">
                <a16:creationId xmlns:a16="http://schemas.microsoft.com/office/drawing/2014/main" id="{BB3A5FD1-6149-0E43-D62F-3C8BEBE21BA3}"/>
              </a:ext>
            </a:extLst>
          </p:cNvPr>
          <p:cNvSpPr/>
          <p:nvPr/>
        </p:nvSpPr>
        <p:spPr>
          <a:xfrm flipH="1">
            <a:off x="7595939" y="460226"/>
            <a:ext cx="1081625" cy="1124949"/>
          </a:xfrm>
          <a:custGeom>
            <a:avLst/>
            <a:gdLst>
              <a:gd name="f0" fmla="val w"/>
              <a:gd name="f1" fmla="val h"/>
              <a:gd name="f2" fmla="val 0"/>
              <a:gd name="f3" fmla="val 43265"/>
              <a:gd name="f4" fmla="val 44998"/>
              <a:gd name="f5" fmla="*/ f0 1 43265"/>
              <a:gd name="f6" fmla="*/ f1 1 44998"/>
              <a:gd name="f7" fmla="+- f4 0 f2"/>
              <a:gd name="f8" fmla="+- f3 0 f2"/>
              <a:gd name="f9" fmla="*/ f8 1 43265"/>
              <a:gd name="f10" fmla="*/ f7 1 4499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3265" h="44998">
                <a:moveTo>
                  <a:pt x="f2" y="f4"/>
                </a:moveTo>
                <a:lnTo>
                  <a:pt x="f2" y="f2"/>
                </a:lnTo>
                <a:lnTo>
                  <a:pt x="f3" y="f2"/>
                </a:lnTo>
              </a:path>
            </a:pathLst>
          </a:custGeom>
          <a:noFill/>
          <a:ln w="28575" cap="flat">
            <a:solidFill>
              <a:srgbClr val="CCA677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Google Shape;17;p3">
            <a:extLst>
              <a:ext uri="{FF2B5EF4-FFF2-40B4-BE49-F238E27FC236}">
                <a16:creationId xmlns:a16="http://schemas.microsoft.com/office/drawing/2014/main" id="{5CDCC035-708B-95B0-3E7D-0D05F3F12AD7}"/>
              </a:ext>
            </a:extLst>
          </p:cNvPr>
          <p:cNvSpPr/>
          <p:nvPr/>
        </p:nvSpPr>
        <p:spPr>
          <a:xfrm rot="10800009" flipH="1">
            <a:off x="466426" y="3558323"/>
            <a:ext cx="1081625" cy="1124949"/>
          </a:xfrm>
          <a:custGeom>
            <a:avLst/>
            <a:gdLst>
              <a:gd name="f0" fmla="val w"/>
              <a:gd name="f1" fmla="val h"/>
              <a:gd name="f2" fmla="val 0"/>
              <a:gd name="f3" fmla="val 43265"/>
              <a:gd name="f4" fmla="val 44998"/>
              <a:gd name="f5" fmla="*/ f0 1 43265"/>
              <a:gd name="f6" fmla="*/ f1 1 44998"/>
              <a:gd name="f7" fmla="+- f4 0 f2"/>
              <a:gd name="f8" fmla="+- f3 0 f2"/>
              <a:gd name="f9" fmla="*/ f8 1 43265"/>
              <a:gd name="f10" fmla="*/ f7 1 4499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3265" h="44998">
                <a:moveTo>
                  <a:pt x="f2" y="f4"/>
                </a:moveTo>
                <a:lnTo>
                  <a:pt x="f2" y="f2"/>
                </a:lnTo>
                <a:lnTo>
                  <a:pt x="f3" y="f2"/>
                </a:lnTo>
              </a:path>
            </a:pathLst>
          </a:custGeom>
          <a:noFill/>
          <a:ln w="28575" cap="flat">
            <a:solidFill>
              <a:srgbClr val="CCA677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Google Shape;18;p3">
            <a:extLst>
              <a:ext uri="{FF2B5EF4-FFF2-40B4-BE49-F238E27FC236}">
                <a16:creationId xmlns:a16="http://schemas.microsoft.com/office/drawing/2014/main" id="{E50B010A-40DE-2CBC-4445-C3C938B09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3701" y="1806452"/>
            <a:ext cx="7596597" cy="1530595"/>
          </a:xfrm>
        </p:spPr>
        <p:txBody>
          <a:bodyPr anchor="ctr" anchorCtr="1"/>
          <a:lstStyle>
            <a:lvl1pPr algn="ctr">
              <a:defRPr lang="ru-RU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5" name="Google Shape;19;p3">
            <a:extLst>
              <a:ext uri="{FF2B5EF4-FFF2-40B4-BE49-F238E27FC236}">
                <a16:creationId xmlns:a16="http://schemas.microsoft.com/office/drawing/2014/main" id="{3CBA8620-91A3-6490-4D58-9977CD24C8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48D20D-906F-40D8-958B-6B9B8517C3E0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66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4">
            <a:extLst>
              <a:ext uri="{FF2B5EF4-FFF2-40B4-BE49-F238E27FC236}">
                <a16:creationId xmlns:a16="http://schemas.microsoft.com/office/drawing/2014/main" id="{FF2533E9-920C-033E-A49F-00210F205E99}"/>
              </a:ext>
            </a:extLst>
          </p:cNvPr>
          <p:cNvSpPr/>
          <p:nvPr/>
        </p:nvSpPr>
        <p:spPr>
          <a:xfrm>
            <a:off x="0" y="5045695"/>
            <a:ext cx="9144000" cy="97804"/>
          </a:xfrm>
          <a:prstGeom prst="rect">
            <a:avLst/>
          </a:prstGeom>
          <a:solidFill>
            <a:srgbClr val="CCA677"/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22;p4">
            <a:extLst>
              <a:ext uri="{FF2B5EF4-FFF2-40B4-BE49-F238E27FC236}">
                <a16:creationId xmlns:a16="http://schemas.microsoft.com/office/drawing/2014/main" id="{F7EA7BEF-59D7-510A-DC81-80B955E80C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4" name="Google Shape;23;p4">
            <a:extLst>
              <a:ext uri="{FF2B5EF4-FFF2-40B4-BE49-F238E27FC236}">
                <a16:creationId xmlns:a16="http://schemas.microsoft.com/office/drawing/2014/main" id="{D9E326BE-2EBD-0F3D-A6F7-23184BE75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Google Shape;24;p4">
            <a:extLst>
              <a:ext uri="{FF2B5EF4-FFF2-40B4-BE49-F238E27FC236}">
                <a16:creationId xmlns:a16="http://schemas.microsoft.com/office/drawing/2014/main" id="{BFC30D48-11B3-B54D-1993-09FF21BC1F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E38AEA-9B86-425F-9493-F73FD9019EE4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05087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0C9A78A9-2AE7-9D08-F81F-611EEFCC83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3" name="Google Shape;27;p5">
            <a:extLst>
              <a:ext uri="{FF2B5EF4-FFF2-40B4-BE49-F238E27FC236}">
                <a16:creationId xmlns:a16="http://schemas.microsoft.com/office/drawing/2014/main" id="{BF99DCA6-74F4-37B7-9451-015F81C0B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2"/>
            <a:ext cx="3999896" cy="3354000"/>
          </a:xfrm>
        </p:spPr>
        <p:txBody>
          <a:bodyPr/>
          <a:lstStyle>
            <a:lvl1pPr indent="-317497">
              <a:buSzPts val="1400"/>
              <a:defRPr sz="1400"/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Google Shape;28;p5">
            <a:extLst>
              <a:ext uri="{FF2B5EF4-FFF2-40B4-BE49-F238E27FC236}">
                <a16:creationId xmlns:a16="http://schemas.microsoft.com/office/drawing/2014/main" id="{A8E176F1-59AA-0001-D98F-343003631A5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2" y="1225222"/>
            <a:ext cx="3999896" cy="3354000"/>
          </a:xfrm>
        </p:spPr>
        <p:txBody>
          <a:bodyPr/>
          <a:lstStyle>
            <a:lvl1pPr indent="-317497">
              <a:buSzPts val="1400"/>
              <a:defRPr sz="1400"/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Google Shape;29;p5">
            <a:extLst>
              <a:ext uri="{FF2B5EF4-FFF2-40B4-BE49-F238E27FC236}">
                <a16:creationId xmlns:a16="http://schemas.microsoft.com/office/drawing/2014/main" id="{999E077F-4269-1993-18DB-6B427B17841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48B3FE-97AE-4FF7-92F7-409852FFDBBE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108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6">
            <a:extLst>
              <a:ext uri="{FF2B5EF4-FFF2-40B4-BE49-F238E27FC236}">
                <a16:creationId xmlns:a16="http://schemas.microsoft.com/office/drawing/2014/main" id="{B81E811E-64BF-3FE3-02BB-D95136B9E4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3" name="Google Shape;32;p6">
            <a:extLst>
              <a:ext uri="{FF2B5EF4-FFF2-40B4-BE49-F238E27FC236}">
                <a16:creationId xmlns:a16="http://schemas.microsoft.com/office/drawing/2014/main" id="{5C6D2C41-F6B0-CC0D-2FC7-4C860CDD9A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205FFD-53FA-4186-B3D3-FBEC499ECFE1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463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;p7">
            <a:extLst>
              <a:ext uri="{FF2B5EF4-FFF2-40B4-BE49-F238E27FC236}">
                <a16:creationId xmlns:a16="http://schemas.microsoft.com/office/drawing/2014/main" id="{024A7FD2-8C66-E8E8-1A6A-04629A044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55598"/>
            <a:ext cx="2808003" cy="755696"/>
          </a:xfrm>
        </p:spPr>
        <p:txBody>
          <a:bodyPr/>
          <a:lstStyle>
            <a:lvl1pPr>
              <a:defRPr lang="ru-RU" sz="3000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3" name="Google Shape;35;p7">
            <a:extLst>
              <a:ext uri="{FF2B5EF4-FFF2-40B4-BE49-F238E27FC236}">
                <a16:creationId xmlns:a16="http://schemas.microsoft.com/office/drawing/2014/main" id="{BA293681-7E88-BA97-5732-0D0AC23D76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399397"/>
            <a:ext cx="2808003" cy="2784896"/>
          </a:xfrm>
        </p:spPr>
        <p:txBody>
          <a:bodyPr/>
          <a:lstStyle>
            <a:lvl1pPr indent="-304796">
              <a:buSzPts val="1200"/>
              <a:defRPr sz="1200"/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Google Shape;36;p7">
            <a:extLst>
              <a:ext uri="{FF2B5EF4-FFF2-40B4-BE49-F238E27FC236}">
                <a16:creationId xmlns:a16="http://schemas.microsoft.com/office/drawing/2014/main" id="{09810AE7-C229-B840-FD84-5653E8C324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EB0D22-084E-4B74-BEE7-2DDCAEABC15B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864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;p8">
            <a:extLst>
              <a:ext uri="{FF2B5EF4-FFF2-40B4-BE49-F238E27FC236}">
                <a16:creationId xmlns:a16="http://schemas.microsoft.com/office/drawing/2014/main" id="{C4652EF3-D15D-ECB1-DC84-5B6B5B0610F5}"/>
              </a:ext>
            </a:extLst>
          </p:cNvPr>
          <p:cNvSpPr/>
          <p:nvPr/>
        </p:nvSpPr>
        <p:spPr>
          <a:xfrm>
            <a:off x="0" y="5045695"/>
            <a:ext cx="9144000" cy="97804"/>
          </a:xfrm>
          <a:prstGeom prst="rect">
            <a:avLst/>
          </a:prstGeom>
          <a:solidFill>
            <a:srgbClr val="CCA677"/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39;p8">
            <a:extLst>
              <a:ext uri="{FF2B5EF4-FFF2-40B4-BE49-F238E27FC236}">
                <a16:creationId xmlns:a16="http://schemas.microsoft.com/office/drawing/2014/main" id="{1E74CC52-D9BE-4224-242D-2CA83FA5C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46" y="450149"/>
            <a:ext cx="5878796" cy="4090797"/>
          </a:xfrm>
        </p:spPr>
        <p:txBody>
          <a:bodyPr anchor="ctr"/>
          <a:lstStyle>
            <a:lvl1pPr>
              <a:defRPr lang="ru-RU" sz="4800"/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4" name="Google Shape;40;p8">
            <a:extLst>
              <a:ext uri="{FF2B5EF4-FFF2-40B4-BE49-F238E27FC236}">
                <a16:creationId xmlns:a16="http://schemas.microsoft.com/office/drawing/2014/main" id="{2EBEC1E3-9A68-8F59-D372-CDFA3EA22A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308794-C260-4232-AC8A-97D38A953234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37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2;p9">
            <a:extLst>
              <a:ext uri="{FF2B5EF4-FFF2-40B4-BE49-F238E27FC236}">
                <a16:creationId xmlns:a16="http://schemas.microsoft.com/office/drawing/2014/main" id="{1BBEF91A-15AB-3E24-1E0B-763CDCBCB74B}"/>
              </a:ext>
            </a:extLst>
          </p:cNvPr>
          <p:cNvSpPr/>
          <p:nvPr/>
        </p:nvSpPr>
        <p:spPr>
          <a:xfrm>
            <a:off x="4572000" y="-27"/>
            <a:ext cx="4572000" cy="5143499"/>
          </a:xfrm>
          <a:prstGeom prst="rect">
            <a:avLst/>
          </a:prstGeom>
          <a:solidFill>
            <a:srgbClr val="CCA677"/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cxnSp>
        <p:nvCxnSpPr>
          <p:cNvPr id="3" name="Google Shape;43;p9">
            <a:extLst>
              <a:ext uri="{FF2B5EF4-FFF2-40B4-BE49-F238E27FC236}">
                <a16:creationId xmlns:a16="http://schemas.microsoft.com/office/drawing/2014/main" id="{0B291C86-57FD-CB45-8EE7-1A6B4391003F}"/>
              </a:ext>
            </a:extLst>
          </p:cNvPr>
          <p:cNvCxnSpPr/>
          <p:nvPr/>
        </p:nvCxnSpPr>
        <p:spPr>
          <a:xfrm>
            <a:off x="5029675" y="4495501"/>
            <a:ext cx="468301" cy="0"/>
          </a:xfrm>
          <a:prstGeom prst="straightConnector1">
            <a:avLst/>
          </a:prstGeom>
          <a:noFill/>
          <a:ln w="19046" cap="flat">
            <a:solidFill>
              <a:srgbClr val="FFFFFF"/>
            </a:solidFill>
            <a:prstDash val="solid"/>
            <a:round/>
          </a:ln>
        </p:spPr>
      </p:cxnSp>
      <p:sp>
        <p:nvSpPr>
          <p:cNvPr id="4" name="Google Shape;44;p9">
            <a:extLst>
              <a:ext uri="{FF2B5EF4-FFF2-40B4-BE49-F238E27FC236}">
                <a16:creationId xmlns:a16="http://schemas.microsoft.com/office/drawing/2014/main" id="{83D649CF-6245-FBF5-B9E1-82988BA3A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496" y="929277"/>
            <a:ext cx="4045195" cy="1786198"/>
          </a:xfrm>
        </p:spPr>
        <p:txBody>
          <a:bodyPr anchorCtr="1"/>
          <a:lstStyle>
            <a:lvl1pPr algn="ctr">
              <a:defRPr lang="ru-RU">
                <a:solidFill>
                  <a:srgbClr val="CCA677"/>
                </a:solidFill>
              </a:defRPr>
            </a:lvl1pPr>
          </a:lstStyle>
          <a:p>
            <a:pPr lvl="0"/>
            <a:r>
              <a:rPr lang="ru-RU"/>
              <a:t>Клацніть, щоб редагувати стиль зразка заголовка</a:t>
            </a:r>
          </a:p>
        </p:txBody>
      </p:sp>
      <p:sp>
        <p:nvSpPr>
          <p:cNvPr id="5" name="Google Shape;45;p9">
            <a:extLst>
              <a:ext uri="{FF2B5EF4-FFF2-40B4-BE49-F238E27FC236}">
                <a16:creationId xmlns:a16="http://schemas.microsoft.com/office/drawing/2014/main" id="{D13163E6-3D61-62C5-E832-F27B6A8779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65496" y="2769004"/>
            <a:ext cx="4045195" cy="1574103"/>
          </a:xfrm>
        </p:spPr>
        <p:txBody>
          <a:bodyPr anchorCtr="1"/>
          <a:lstStyle>
            <a:lvl1pPr algn="ctr">
              <a:lnSpc>
                <a:spcPct val="100000"/>
              </a:lnSpc>
              <a:buNone/>
              <a:defRPr lang="ru-RU" sz="2400">
                <a:latin typeface="Economica"/>
                <a:ea typeface="Economica"/>
                <a:cs typeface="Economica"/>
              </a:defRPr>
            </a:lvl1pPr>
          </a:lstStyle>
          <a:p>
            <a:pPr lvl="0"/>
            <a:r>
              <a:rPr lang="ru-RU"/>
              <a:t>Клацніть, щоб редагувати стиль зразка підзаголовка</a:t>
            </a:r>
          </a:p>
        </p:txBody>
      </p:sp>
      <p:sp>
        <p:nvSpPr>
          <p:cNvPr id="6" name="Google Shape;46;p9">
            <a:extLst>
              <a:ext uri="{FF2B5EF4-FFF2-40B4-BE49-F238E27FC236}">
                <a16:creationId xmlns:a16="http://schemas.microsoft.com/office/drawing/2014/main" id="{EDA4D19D-D5A1-0B65-EFAF-79F6B7E306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39497" y="724195"/>
            <a:ext cx="3836996" cy="3695099"/>
          </a:xfrm>
        </p:spPr>
        <p:txBody>
          <a:bodyPr anchor="ctr"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Google Shape;47;p9">
            <a:extLst>
              <a:ext uri="{FF2B5EF4-FFF2-40B4-BE49-F238E27FC236}">
                <a16:creationId xmlns:a16="http://schemas.microsoft.com/office/drawing/2014/main" id="{8BC275A6-A559-3DDE-A7F2-D9A67420F3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6FB545DB-5AD1-4756-ADFD-B8B226CA52C7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208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0">
            <a:extLst>
              <a:ext uri="{FF2B5EF4-FFF2-40B4-BE49-F238E27FC236}">
                <a16:creationId xmlns:a16="http://schemas.microsoft.com/office/drawing/2014/main" id="{2D8C250C-0E7C-BF9E-584B-023EA8AB12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9500" y="4218922"/>
            <a:ext cx="5998802" cy="598803"/>
          </a:xfrm>
        </p:spPr>
        <p:txBody>
          <a:bodyPr anchor="ctr"/>
          <a:lstStyle>
            <a:lvl1pPr indent="-228600">
              <a:lnSpc>
                <a:spcPct val="100000"/>
              </a:lnSpc>
              <a:buNone/>
              <a:defRPr sz="2400">
                <a:latin typeface="Economica"/>
                <a:ea typeface="Economica"/>
                <a:cs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Google Shape;50;p10">
            <a:extLst>
              <a:ext uri="{FF2B5EF4-FFF2-40B4-BE49-F238E27FC236}">
                <a16:creationId xmlns:a16="http://schemas.microsoft.com/office/drawing/2014/main" id="{2D2CCDDF-CECA-16F6-6D08-555F1B9074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99D6CDB-6AE5-4AF8-96AB-329D23D905C4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323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1">
            <a:extLst>
              <a:ext uri="{FF2B5EF4-FFF2-40B4-BE49-F238E27FC236}">
                <a16:creationId xmlns:a16="http://schemas.microsoft.com/office/drawing/2014/main" id="{DF8E2CCA-8CCE-9594-7D9F-B9FEE2C92B1D}"/>
              </a:ext>
            </a:extLst>
          </p:cNvPr>
          <p:cNvSpPr/>
          <p:nvPr/>
        </p:nvSpPr>
        <p:spPr>
          <a:xfrm>
            <a:off x="0" y="5045695"/>
            <a:ext cx="9144000" cy="97804"/>
          </a:xfrm>
          <a:prstGeom prst="rect">
            <a:avLst/>
          </a:prstGeom>
          <a:solidFill>
            <a:srgbClr val="CCA677"/>
          </a:solidFill>
          <a:ln cap="flat">
            <a:noFill/>
            <a:prstDash val="solid"/>
          </a:ln>
        </p:spPr>
        <p:txBody>
          <a:bodyPr vert="horz" wrap="square" lIns="91421" tIns="91421" rIns="91421" bIns="91421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53;p11">
            <a:extLst>
              <a:ext uri="{FF2B5EF4-FFF2-40B4-BE49-F238E27FC236}">
                <a16:creationId xmlns:a16="http://schemas.microsoft.com/office/drawing/2014/main" id="{D570C912-858E-3852-B784-91C1C3E84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957120"/>
            <a:ext cx="8520598" cy="2128796"/>
          </a:xfrm>
        </p:spPr>
        <p:txBody>
          <a:bodyPr anchor="ctr" anchorCtr="1"/>
          <a:lstStyle>
            <a:lvl1pPr algn="ctr">
              <a:defRPr lang="en-GB" sz="16000">
                <a:solidFill>
                  <a:srgbClr val="CCA677"/>
                </a:solidFill>
              </a:defRPr>
            </a:lvl1pPr>
          </a:lstStyle>
          <a:p>
            <a:pPr lvl="0"/>
            <a:r>
              <a:rPr lang="en-GB"/>
              <a:t>xx%</a:t>
            </a:r>
          </a:p>
        </p:txBody>
      </p:sp>
      <p:sp>
        <p:nvSpPr>
          <p:cNvPr id="4" name="Google Shape;54;p11">
            <a:extLst>
              <a:ext uri="{FF2B5EF4-FFF2-40B4-BE49-F238E27FC236}">
                <a16:creationId xmlns:a16="http://schemas.microsoft.com/office/drawing/2014/main" id="{DCF5F0DE-A381-FFDF-29FC-F39541DD21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3162004"/>
            <a:ext cx="8520598" cy="1071603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Google Shape;55;p11">
            <a:extLst>
              <a:ext uri="{FF2B5EF4-FFF2-40B4-BE49-F238E27FC236}">
                <a16:creationId xmlns:a16="http://schemas.microsoft.com/office/drawing/2014/main" id="{1BDD5E59-8914-1C22-9DCE-B6126BF68F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775F4A-19A1-4542-9D41-DDD2EA96BA03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692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12">
            <a:extLst>
              <a:ext uri="{FF2B5EF4-FFF2-40B4-BE49-F238E27FC236}">
                <a16:creationId xmlns:a16="http://schemas.microsoft.com/office/drawing/2014/main" id="{35103C15-93C1-8141-ACEB-4FB239B215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7736DA-0D19-43A9-B470-B6210F4E13FF}" type="slidenum"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208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2A9FFDD9-43B8-B719-E269-CAAB5A34A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598" cy="8312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b" anchorCtr="0" compatLnSpc="1">
            <a:normAutofit/>
          </a:bodyPr>
          <a:lstStyle/>
          <a:p>
            <a:pPr lvl="0"/>
            <a:endParaRPr lang="uk-UA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07A59EEB-88B3-FD5E-22F4-F625D70B6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2"/>
            <a:ext cx="8520598" cy="33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014A3BE8-A3C3-09A4-34FE-0E9B970982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472455" y="4663220"/>
            <a:ext cx="548704" cy="3936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ctr" anchorCtr="0" compatLnSpc="1">
            <a:norm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uk-UA" sz="1000" b="0" i="0" u="none" strike="noStrike" kern="0" cap="none" spc="0" baseline="0">
                <a:solidFill>
                  <a:srgbClr val="000000"/>
                </a:solidFill>
                <a:uFillTx/>
                <a:latin typeface="Economica"/>
                <a:ea typeface="Economica"/>
                <a:cs typeface="Economica"/>
              </a:defRPr>
            </a:lvl1pPr>
          </a:lstStyle>
          <a:p>
            <a:pPr lvl="0"/>
            <a:fld id="{E5BC62FA-4972-4DE7-94CC-4FB9585F330D}" type="slidenum"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uk-UA" sz="4200" b="0" i="0" u="none" strike="noStrike" kern="0" cap="none" spc="0" baseline="0">
          <a:solidFill>
            <a:srgbClr val="000000"/>
          </a:solidFill>
          <a:uFillTx/>
          <a:latin typeface="Economica"/>
          <a:ea typeface="Economica"/>
          <a:cs typeface="Economica"/>
        </a:defRPr>
      </a:lvl1pPr>
    </p:titleStyle>
    <p:bodyStyle>
      <a:lvl1pPr marL="457200" marR="0" lvl="0" indent="-342900" algn="l" defTabSz="914400" rtl="0" fontAlgn="auto" hangingPunct="1">
        <a:lnSpc>
          <a:spcPct val="115000"/>
        </a:lnSpc>
        <a:spcBef>
          <a:spcPts val="0"/>
        </a:spcBef>
        <a:spcAft>
          <a:spcPts val="0"/>
        </a:spcAft>
        <a:buClr>
          <a:srgbClr val="000000"/>
        </a:buClr>
        <a:buSzPts val="1800"/>
        <a:buFont typeface="Open Sans"/>
        <a:buChar char="●"/>
        <a:tabLst/>
        <a:defRPr lang="uk-UA" sz="1800" b="0" i="0" u="none" strike="noStrike" kern="0" cap="none" spc="0" baseline="0">
          <a:solidFill>
            <a:srgbClr val="000000"/>
          </a:solidFill>
          <a:uFillTx/>
          <a:latin typeface="Open Sans"/>
          <a:ea typeface="Open Sans"/>
          <a:cs typeface="Open San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uk-UA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uk-UA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uk-UA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uk-UA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2;p13">
            <a:extLst>
              <a:ext uri="{FF2B5EF4-FFF2-40B4-BE49-F238E27FC236}">
                <a16:creationId xmlns:a16="http://schemas.microsoft.com/office/drawing/2014/main" id="{2EE701CE-603B-A3E6-DBE8-8B159A18411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30753" y="1611986"/>
            <a:ext cx="3482492" cy="439195"/>
          </a:xfrm>
        </p:spPr>
        <p:txBody>
          <a:bodyPr anchorCtr="0">
            <a:noAutofit/>
          </a:bodyPr>
          <a:lstStyle/>
          <a:p>
            <a:pPr lvl="0" algn="l"/>
            <a:r>
              <a:rPr lang="ru-RU" sz="2400"/>
              <a:t>Програмна система для розміщення вакансій та пошуку роботи. </a:t>
            </a:r>
            <a:r>
              <a:rPr lang="pl-PL" sz="2400"/>
              <a:t>Frontend</a:t>
            </a:r>
            <a:endParaRPr lang="ru-RU" sz="2400"/>
          </a:p>
        </p:txBody>
      </p:sp>
      <p:sp>
        <p:nvSpPr>
          <p:cNvPr id="3" name="Google Shape;63;p13">
            <a:extLst>
              <a:ext uri="{FF2B5EF4-FFF2-40B4-BE49-F238E27FC236}">
                <a16:creationId xmlns:a16="http://schemas.microsoft.com/office/drawing/2014/main" id="{84D970E3-487A-763B-7F81-42737DF2D2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80621" y="3311911"/>
            <a:ext cx="5087401" cy="1532698"/>
          </a:xfrm>
        </p:spPr>
        <p:txBody>
          <a:bodyPr anchorCtr="0"/>
          <a:lstStyle/>
          <a:p>
            <a:pPr marL="0" lvl="0" indent="0">
              <a:lnSpc>
                <a:spcPct val="60000"/>
              </a:lnSpc>
            </a:pPr>
            <a:endParaRPr lang="ru-RU" sz="1400"/>
          </a:p>
          <a:p>
            <a:pPr marL="0" lvl="0" indent="0" algn="l">
              <a:lnSpc>
                <a:spcPct val="140000"/>
              </a:lnSpc>
            </a:pPr>
            <a:r>
              <a:rPr lang="ru-RU" sz="1400"/>
              <a:t>Виконав  :              ст. гр. ПЗПІ-23-9 Шабалтас В. А.</a:t>
            </a:r>
          </a:p>
          <a:p>
            <a:pPr marL="0" lvl="0" indent="0" algn="l">
              <a:lnSpc>
                <a:spcPct val="60000"/>
              </a:lnSpc>
            </a:pPr>
            <a:r>
              <a:rPr lang="ru-RU" sz="1400"/>
              <a:t>                               </a:t>
            </a:r>
          </a:p>
          <a:p>
            <a:pPr marL="0" lvl="0" indent="0" algn="l">
              <a:lnSpc>
                <a:spcPct val="60000"/>
              </a:lnSpc>
            </a:pPr>
            <a:r>
              <a:rPr lang="ru-RU" sz="1400"/>
              <a:t>Керівник:               доц. Русакова. Н. В. </a:t>
            </a:r>
          </a:p>
          <a:p>
            <a:pPr marL="0" lvl="0" indent="0">
              <a:lnSpc>
                <a:spcPct val="60000"/>
              </a:lnSpc>
            </a:pPr>
            <a:endParaRPr lang="ru-RU" sz="1400"/>
          </a:p>
          <a:p>
            <a:pPr marL="0" lvl="0" indent="0">
              <a:lnSpc>
                <a:spcPct val="60000"/>
              </a:lnSpc>
            </a:pPr>
            <a:endParaRPr lang="ru-RU" sz="1400"/>
          </a:p>
          <a:p>
            <a:pPr marL="0" lvl="0" indent="0">
              <a:lnSpc>
                <a:spcPct val="60000"/>
              </a:lnSpc>
            </a:pPr>
            <a:r>
              <a:rPr lang="ru-RU" sz="1400"/>
              <a:t>01 червня 2026</a:t>
            </a:r>
          </a:p>
        </p:txBody>
      </p:sp>
      <p:pic>
        <p:nvPicPr>
          <p:cNvPr id="4" name="Google Shape;64;p13">
            <a:extLst>
              <a:ext uri="{FF2B5EF4-FFF2-40B4-BE49-F238E27FC236}">
                <a16:creationId xmlns:a16="http://schemas.microsoft.com/office/drawing/2014/main" id="{C6E56BDD-D0B0-E14D-1BC6-CCBFDB931A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oogle Shape;65;p13">
            <a:extLst>
              <a:ext uri="{FF2B5EF4-FFF2-40B4-BE49-F238E27FC236}">
                <a16:creationId xmlns:a16="http://schemas.microsoft.com/office/drawing/2014/main" id="{89A9FA59-A5EB-7727-AEBF-0AC4AB98E5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8"/>
            <a:ext cx="2133971" cy="38977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oogle Shape;66;p13">
            <a:extLst>
              <a:ext uri="{FF2B5EF4-FFF2-40B4-BE49-F238E27FC236}">
                <a16:creationId xmlns:a16="http://schemas.microsoft.com/office/drawing/2014/main" id="{E248C61F-69BD-7C16-63F5-FC0F4011F06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8"/>
            <a:ext cx="1924921" cy="43917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6188E492-7873-CBF6-4F7B-CC8F7B87AD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Мета роботи</a:t>
            </a:r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97DFFEC2-826B-E7D3-D478-36F80E732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lvl="0" indent="0" algn="just">
              <a:lnSpc>
                <a:spcPct val="150000"/>
              </a:lnSpc>
              <a:buNone/>
            </a:pPr>
            <a:r>
              <a:rPr lang="uk-UA" sz="1400">
                <a:latin typeface="Arial"/>
              </a:rPr>
              <a:t>          </a:t>
            </a:r>
            <a:r>
              <a:rPr lang="uk-UA" sz="1400"/>
              <a:t>Мета роботи полягає у розробці клієнтської частини вебсистеми </a:t>
            </a:r>
            <a:r>
              <a:rPr lang="en-GB" sz="1400"/>
              <a:t>HiredIn </a:t>
            </a:r>
            <a:r>
              <a:rPr lang="uk-UA" sz="1400"/>
              <a:t>для пошуку роботи та взаємодії між кандидатами і роботодавцями, що забезпечує зручний, адаптивний та функціональний користувацький інтерфейс.</a:t>
            </a:r>
            <a:endParaRPr lang="uk-UA" sz="1400">
              <a:latin typeface="Arial"/>
            </a:endParaRPr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604EE292-9BEE-CD49-39AC-2DC2FE67C2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CD51ED30-D755-6A8A-F586-D774AAD48809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BA8EBFC-6E15-430A-A97B-61F53C9FF1D9}" type="slidenum">
              <a:t>2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8;p15">
            <a:extLst>
              <a:ext uri="{FF2B5EF4-FFF2-40B4-BE49-F238E27FC236}">
                <a16:creationId xmlns:a16="http://schemas.microsoft.com/office/drawing/2014/main" id="{D29CB5FA-5343-0F1E-5287-21573331B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1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Аналіз проблеми</a:t>
            </a:r>
          </a:p>
        </p:txBody>
      </p:sp>
      <p:pic>
        <p:nvPicPr>
          <p:cNvPr id="3" name="Google Shape;80;p15">
            <a:extLst>
              <a:ext uri="{FF2B5EF4-FFF2-40B4-BE49-F238E27FC236}">
                <a16:creationId xmlns:a16="http://schemas.microsoft.com/office/drawing/2014/main" id="{37C42050-B511-FAD5-A645-70B446E484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BD29C95-7830-5E60-43B5-DBD22D22CCCD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FC7A09D-70D5-4B7E-8DC3-C0C62BB61A37}" type="slidenum">
              <a:t>3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A2A7FF-EF88-C2B6-5611-A03BC1ACC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5345" y="963155"/>
            <a:ext cx="6933309" cy="3053209"/>
          </a:xfrm>
        </p:spPr>
        <p:txBody>
          <a:bodyPr wrap="none" lIns="91440" tIns="45720" rIns="91440" bIns="45720" anchor="ctr">
            <a:spAutoFit/>
          </a:bodyPr>
          <a:lstStyle/>
          <a:p>
            <a:pPr marL="0" lvl="0" indent="0" algn="just" hangingPunct="0">
              <a:lnSpc>
                <a:spcPct val="150000"/>
              </a:lnSpc>
              <a:buNone/>
            </a:pPr>
            <a:endParaRPr lang="uk-UA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Перевантаженість інтерфейсу великою кількістю розділів та елементів</a:t>
            </a:r>
            <a:r>
              <a:rPr lang="pl-PL" sz="1400">
                <a:latin typeface="Arial"/>
              </a:rPr>
              <a:t>;</a:t>
            </a:r>
            <a:endParaRPr lang="uk-UA" sz="1400">
              <a:latin typeface="Arial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Складність навігації між вакансіями, резюме, заявками та профілем</a:t>
            </a:r>
            <a:r>
              <a:rPr lang="pl-PL" sz="1400">
                <a:latin typeface="Arial"/>
              </a:rPr>
              <a:t>;</a:t>
            </a:r>
            <a:endParaRPr lang="uk-UA" sz="1400">
              <a:latin typeface="Arial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</a:t>
            </a:r>
            <a:r>
              <a:rPr lang="uk-UA" sz="1400">
                <a:latin typeface="Arial"/>
                <a:cs typeface="Aparajita" pitchFamily="18"/>
              </a:rPr>
              <a:t>Обмежені можливості пошуку та фільтрації вакансій</a:t>
            </a:r>
            <a:r>
              <a:rPr lang="pl-PL" sz="1400">
                <a:latin typeface="Arial"/>
                <a:cs typeface="Aparajita" pitchFamily="18"/>
              </a:rPr>
              <a:t>;</a:t>
            </a:r>
            <a:endParaRPr lang="uk-UA" sz="1400">
              <a:latin typeface="Arial"/>
              <a:cs typeface="Aparajita" pitchFamily="18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Недостатня персоналізація підбору вакансій відповідно до навичок кандидата</a:t>
            </a:r>
            <a:r>
              <a:rPr lang="pl-PL" sz="1400">
                <a:latin typeface="Arial"/>
              </a:rPr>
              <a:t>;</a:t>
            </a:r>
            <a:endParaRPr lang="uk-UA" sz="1400">
              <a:latin typeface="Arial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Комунікація між кандидатом і роботодавцем часто переноситься у сторонні </a:t>
            </a:r>
          </a:p>
          <a:p>
            <a:pPr marL="0" lvl="0" indent="0" algn="just" hangingPunct="0">
              <a:lnSpc>
                <a:spcPct val="150000"/>
              </a:lnSpc>
              <a:buNone/>
            </a:pPr>
            <a:r>
              <a:rPr lang="uk-UA" sz="1400">
                <a:latin typeface="Arial"/>
              </a:rPr>
              <a:t>Сервіси</a:t>
            </a:r>
            <a:r>
              <a:rPr lang="pl-PL" sz="1400">
                <a:latin typeface="Arial"/>
              </a:rPr>
              <a:t>;</a:t>
            </a:r>
            <a:endParaRPr lang="uk-UA" sz="1400">
              <a:latin typeface="Arial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Незручне відстеження статусу поданих заявок</a:t>
            </a:r>
            <a:r>
              <a:rPr lang="pl-PL" sz="1400">
                <a:latin typeface="Arial"/>
              </a:rPr>
              <a:t>;</a:t>
            </a:r>
            <a:endParaRPr lang="uk-UA" sz="1400">
              <a:latin typeface="Arial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/>
              </a:rPr>
              <a:t>  Недостатня адаптація інтерфейсу для роботи з різних пристроїв.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8;p15">
            <a:extLst>
              <a:ext uri="{FF2B5EF4-FFF2-40B4-BE49-F238E27FC236}">
                <a16:creationId xmlns:a16="http://schemas.microsoft.com/office/drawing/2014/main" id="{69466F34-9B93-C2E9-1AD2-0EFC3DD3D5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1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 Аналіз існуючих рішень</a:t>
            </a:r>
          </a:p>
        </p:txBody>
      </p:sp>
      <p:pic>
        <p:nvPicPr>
          <p:cNvPr id="3" name="Google Shape;80;p15">
            <a:extLst>
              <a:ext uri="{FF2B5EF4-FFF2-40B4-BE49-F238E27FC236}">
                <a16:creationId xmlns:a16="http://schemas.microsoft.com/office/drawing/2014/main" id="{9706051A-9D19-0BDD-EA50-6D805AB542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FFA7C132-6E6A-1717-D966-2FBC46B10F82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D7D236F-0732-4F6F-B3EF-31A2D4E2233A}" type="slidenum">
              <a:t>4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B2A239-644B-71BA-08C3-42D059D89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7373" y="629646"/>
            <a:ext cx="6864382" cy="3884206"/>
          </a:xfrm>
        </p:spPr>
        <p:txBody>
          <a:bodyPr wrap="none" lIns="91440" tIns="45720" rIns="91440" bIns="45720" anchor="ctr">
            <a:spAutoFit/>
          </a:bodyPr>
          <a:lstStyle/>
          <a:p>
            <a:pPr marL="0" lvl="0" indent="0" hangingPunct="0">
              <a:lnSpc>
                <a:spcPct val="100000"/>
              </a:lnSpc>
              <a:buNone/>
            </a:pPr>
            <a:endParaRPr lang="uk-UA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ru-RU" sz="1400">
                <a:latin typeface="Arial" pitchFamily="34"/>
                <a:cs typeface="Arial" pitchFamily="34"/>
              </a:rPr>
              <a:t>  Створення єдиного веб-інтерфейсу для кандидатів і роботодавців;</a:t>
            </a:r>
            <a:endParaRPr lang="uk-UA" sz="1400">
              <a:latin typeface="Arial" pitchFamily="34"/>
              <a:cs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ru-RU" sz="1400">
                <a:latin typeface="Arial" pitchFamily="34"/>
                <a:cs typeface="Arial" pitchFamily="34"/>
              </a:rPr>
              <a:t>  Реалізація зрозумілої навігації між основними розділами системи;</a:t>
            </a:r>
            <a:endParaRPr lang="uk-UA" sz="1400">
              <a:latin typeface="Arial" pitchFamily="34"/>
              <a:cs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ru-RU" sz="1400">
                <a:latin typeface="Arial" pitchFamily="34"/>
                <a:cs typeface="Arial" pitchFamily="34"/>
              </a:rPr>
              <a:t>  Додавання пошуку, фільтрації та сортування вакансій;</a:t>
            </a:r>
            <a:endParaRPr lang="uk-UA" sz="1400">
              <a:latin typeface="Arial" pitchFamily="34"/>
              <a:cs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</a:rPr>
              <a:t>  Додавання пошуку, фільтрації та сортування вакансій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pl-PL" sz="1400">
                <a:latin typeface="Arial" pitchFamily="34"/>
              </a:rPr>
              <a:t>  </a:t>
            </a:r>
            <a:r>
              <a:rPr lang="uk-UA" sz="1400">
                <a:latin typeface="Arial" pitchFamily="34"/>
              </a:rPr>
              <a:t>Реалізація конструктора резюме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pl-PL" sz="1400">
                <a:latin typeface="Arial" pitchFamily="34"/>
              </a:rPr>
              <a:t>  </a:t>
            </a:r>
            <a:r>
              <a:rPr lang="uk-UA" sz="1400">
                <a:latin typeface="Arial" pitchFamily="34"/>
              </a:rPr>
              <a:t>Надання можливості подавати заявки на вакансії та відстежувати їх статус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</a:rPr>
              <a:t>  Додавання вбудованого чату для комунікації між кандидатом і роботодавцем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</a:rPr>
              <a:t>  Реалізація системи сповіщень про нові повідомлення та зміну статусу заявок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</a:rPr>
              <a:t>  Використання адаптивного інтерфейсу для роботи з комп’ютера, планшета </a:t>
            </a:r>
          </a:p>
          <a:p>
            <a:pPr marL="0" lvl="0" indent="0" algn="just" hangingPunct="0">
              <a:lnSpc>
                <a:spcPct val="150000"/>
              </a:lnSpc>
              <a:buNone/>
            </a:pPr>
            <a:r>
              <a:rPr lang="uk-UA" sz="1400">
                <a:latin typeface="Arial" pitchFamily="34"/>
              </a:rPr>
              <a:t>або смартфона</a:t>
            </a:r>
            <a:r>
              <a:rPr lang="pl-PL" sz="1400">
                <a:latin typeface="Arial" pitchFamily="34"/>
              </a:rPr>
              <a:t>;</a:t>
            </a:r>
            <a:endParaRPr lang="uk-UA" sz="1400">
              <a:latin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</a:rPr>
              <a:t>  Додавання рекомендацій вакансій та AI-функцій</a:t>
            </a:r>
            <a:r>
              <a:rPr lang="pl-PL" sz="1400">
                <a:latin typeface="Arial" pitchFamily="34"/>
              </a:rPr>
              <a:t>.</a:t>
            </a:r>
            <a:endParaRPr lang="uk-UA" sz="1400">
              <a:latin typeface="Arial" pitchFamily="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6">
            <a:extLst>
              <a:ext uri="{FF2B5EF4-FFF2-40B4-BE49-F238E27FC236}">
                <a16:creationId xmlns:a16="http://schemas.microsoft.com/office/drawing/2014/main" id="{FFA4DF1A-D92D-7800-DA40-0E8BFFECF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86272"/>
            <a:ext cx="8520598" cy="831299"/>
          </a:xfrm>
        </p:spPr>
        <p:txBody>
          <a:bodyPr/>
          <a:lstStyle/>
          <a:p>
            <a:pPr lvl="0"/>
            <a:r>
              <a:rPr lang="ru-RU" sz="3200"/>
              <a:t>Постановка задачі та опис системи</a:t>
            </a:r>
          </a:p>
        </p:txBody>
      </p:sp>
      <p:sp>
        <p:nvSpPr>
          <p:cNvPr id="3" name="Google Shape;86;p16">
            <a:extLst>
              <a:ext uri="{FF2B5EF4-FFF2-40B4-BE49-F238E27FC236}">
                <a16:creationId xmlns:a16="http://schemas.microsoft.com/office/drawing/2014/main" id="{25E962D8-8B11-400E-20F5-BDA35864E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lvl="0" indent="457200" algn="just">
              <a:lnSpc>
                <a:spcPct val="150000"/>
              </a:lnSpc>
              <a:buNone/>
            </a:pPr>
            <a:r>
              <a:rPr lang="uk-UA" sz="1400"/>
              <a:t>Необхідно розробити клієнтську частину вебсистеми </a:t>
            </a:r>
            <a:r>
              <a:rPr lang="en-GB" sz="1400"/>
              <a:t>HiredIn </a:t>
            </a:r>
            <a:r>
              <a:rPr lang="uk-UA" sz="1400"/>
              <a:t>для пошуку роботи та взаємодії між кандидатами і роботодавцями. Інтерфейс повинен забезпечувати зручну навігацію, реєстрацію та авторизацію користувачів, перегляд вакансій і компаній, роботу з резюме, заявками, чатами, сповіщеннями та рекомендаціями.</a:t>
            </a:r>
            <a:endParaRPr lang="uk-UA"/>
          </a:p>
        </p:txBody>
      </p:sp>
      <p:pic>
        <p:nvPicPr>
          <p:cNvPr id="4" name="Google Shape;87;p16">
            <a:extLst>
              <a:ext uri="{FF2B5EF4-FFF2-40B4-BE49-F238E27FC236}">
                <a16:creationId xmlns:a16="http://schemas.microsoft.com/office/drawing/2014/main" id="{7E11F68A-FA65-2D70-3BA7-A30D2C41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56EC6702-1905-742F-343A-F5D7281A4D68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5DC57D-6E68-4951-8101-56E870B0A3B3}" type="slidenum">
              <a:t>5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D518F0FB-06C3-9BDB-BD7B-36C750B0F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48306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Вибір технологій розробки </a:t>
            </a:r>
          </a:p>
        </p:txBody>
      </p:sp>
      <p:pic>
        <p:nvPicPr>
          <p:cNvPr id="3" name="Google Shape;94;p17">
            <a:extLst>
              <a:ext uri="{FF2B5EF4-FFF2-40B4-BE49-F238E27FC236}">
                <a16:creationId xmlns:a16="http://schemas.microsoft.com/office/drawing/2014/main" id="{ACB41A3F-D04A-B80F-3246-27D657C53A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99BAB4EF-877D-C8A8-2ABF-6B446D3F058E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A59FCDF-0DC7-4FDF-9838-F5A9C8CEF070}" type="slidenum">
              <a:t>6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7A04221F-53C8-AAB4-EC90-BD4484B2F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46" y="774505"/>
            <a:ext cx="7901943" cy="349349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6;p19">
            <a:extLst>
              <a:ext uri="{FF2B5EF4-FFF2-40B4-BE49-F238E27FC236}">
                <a16:creationId xmlns:a16="http://schemas.microsoft.com/office/drawing/2014/main" id="{7F1D33F3-5070-0C05-19AF-A48AE4609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1505"/>
            <a:ext cx="8520598" cy="831299"/>
          </a:xfrm>
        </p:spPr>
        <p:txBody>
          <a:bodyPr>
            <a:noAutofit/>
          </a:bodyPr>
          <a:lstStyle/>
          <a:p>
            <a:pPr lvl="0"/>
            <a:r>
              <a:rPr lang="uk-UA" sz="3200"/>
              <a:t>Засоби розробки</a:t>
            </a:r>
            <a:endParaRPr lang="ru-RU" sz="3200"/>
          </a:p>
        </p:txBody>
      </p:sp>
      <p:pic>
        <p:nvPicPr>
          <p:cNvPr id="3" name="Google Shape;108;p19">
            <a:extLst>
              <a:ext uri="{FF2B5EF4-FFF2-40B4-BE49-F238E27FC236}">
                <a16:creationId xmlns:a16="http://schemas.microsoft.com/office/drawing/2014/main" id="{54F36C3A-D78C-4E8E-A70F-DFA641ABF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D152214-0DF2-697C-0440-F7E8A77EE08A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54891E-BCA1-4EF8-A396-B2D4AD33040A}" type="slidenum">
              <a:t>7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5CCD72C9-CA9D-3133-1678-D08286885A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0" t="14843" r="1933" b="17623"/>
          <a:stretch>
            <a:fillRect/>
          </a:stretch>
        </p:blipFill>
        <p:spPr>
          <a:xfrm>
            <a:off x="984260" y="1114141"/>
            <a:ext cx="7175479" cy="308401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3;p20">
            <a:extLst>
              <a:ext uri="{FF2B5EF4-FFF2-40B4-BE49-F238E27FC236}">
                <a16:creationId xmlns:a16="http://schemas.microsoft.com/office/drawing/2014/main" id="{9D4F6118-F644-4E5A-945D-3A5613BA4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4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Дизайн системи</a:t>
            </a:r>
          </a:p>
        </p:txBody>
      </p:sp>
      <p:pic>
        <p:nvPicPr>
          <p:cNvPr id="3" name="Google Shape;115;p20">
            <a:extLst>
              <a:ext uri="{FF2B5EF4-FFF2-40B4-BE49-F238E27FC236}">
                <a16:creationId xmlns:a16="http://schemas.microsoft.com/office/drawing/2014/main" id="{C20863E4-9380-C904-45FE-6A329BFD53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EEFF6AEA-A36D-3D6B-D2A2-211473B7F337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7179256-968F-4CC7-B54D-7042ED599F0C}" type="slidenum">
              <a:t>8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94198C53-2C29-87E0-75D0-24647213F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" t="13186" r="815" b="13778"/>
          <a:stretch>
            <a:fillRect/>
          </a:stretch>
        </p:blipFill>
        <p:spPr>
          <a:xfrm>
            <a:off x="761996" y="693416"/>
            <a:ext cx="7619996" cy="375665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7674AAE1-8D28-9C41-5A2E-F8DFD8CD9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Фрагмент головної сторінки 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06202720-968C-976F-2BB8-C4FB730A64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49516E3-1C7C-66AD-4EA0-1F7F0632FCAD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D30006-6179-4392-B60C-72D0E0EC0852}" type="slidenum">
              <a:t>9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69DB258D-31D0-F5FB-7E71-2ECC9CDF0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03" y="770546"/>
            <a:ext cx="7000993" cy="358895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1E147410-494D-5605-78DE-25B719CE6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Фрагмент сторінки списку вакансій 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624ACF94-95C6-12D4-86A7-ED83DFE1ED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050FDDD3-AD22-6180-51C3-B63A954CFD27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FC9E39D-9D9D-429B-811A-F26042CA4760}" type="slidenum">
              <a:t>10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E1E618C0-7215-ECCC-FE9C-A831E05F38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30"/>
          <a:stretch>
            <a:fillRect/>
          </a:stretch>
        </p:blipFill>
        <p:spPr>
          <a:xfrm>
            <a:off x="1515261" y="752002"/>
            <a:ext cx="6287615" cy="400822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1847F779-4197-DD8E-B7EF-9F8E41BEF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Фрагмент конструктора резюме 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C108D36F-FCC7-F282-DEBE-CEC61362A4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B7917D2-4772-BF80-EB54-3ED76DE3B24D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F3AD49C-84ED-4FEC-9C3B-D4B2E1D2EE36}" type="slidenum">
              <a:t>11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E793C5DE-1D04-3C1C-85D1-B1065EA6C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574" y="601803"/>
            <a:ext cx="6772851" cy="409043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109FA197-0649-8056-0482-AEC5680C1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Інтерфейс сторінки </a:t>
            </a:r>
            <a:r>
              <a:rPr lang="pl-PL" sz="3200"/>
              <a:t>AI</a:t>
            </a:r>
            <a:r>
              <a:rPr lang="uk-UA" sz="3200"/>
              <a:t>-рекомендацій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B3F5546B-24D5-2132-635D-85607018B4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4E01C5FE-1A2B-3763-BFD4-0EFFEF93AD74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BBA0C8B-1C28-41B3-A45C-A549AFF48A21}" type="slidenum">
              <a:t>12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3B562CEC-7579-D286-E5AB-4CAA916A1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36" y="687683"/>
            <a:ext cx="6975600" cy="389198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760297C9-1FAB-DC9D-C6FE-BAB1DA92D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Інтерфейс чату 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C92E123C-ABD1-1D83-4DA4-FC85E18B86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01032533-77AC-3A49-D209-A2F36B9375DD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68A52ED-73AD-4916-BA07-59415EBE6ED5}" type="slidenum">
              <a:t>13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6">
            <a:extLst>
              <a:ext uri="{FF2B5EF4-FFF2-40B4-BE49-F238E27FC236}">
                <a16:creationId xmlns:a16="http://schemas.microsoft.com/office/drawing/2014/main" id="{79071420-543C-9BA1-6892-95D613458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462" y="687683"/>
            <a:ext cx="6929387" cy="391866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ABDF482F-343D-A3A8-3EDA-1ADB2F197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15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Фрагмент сторінки сповіщень</a:t>
            </a:r>
          </a:p>
        </p:txBody>
      </p:sp>
      <p:pic>
        <p:nvPicPr>
          <p:cNvPr id="3" name="Google Shape;129;p22">
            <a:extLst>
              <a:ext uri="{FF2B5EF4-FFF2-40B4-BE49-F238E27FC236}">
                <a16:creationId xmlns:a16="http://schemas.microsoft.com/office/drawing/2014/main" id="{640CFA11-F15A-7F28-95A4-5724AC7B91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E4518CC3-85FE-A979-F05D-087BF900EF88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64B663-28BC-49DA-B308-7BF20B247268}" type="slidenum">
              <a:t>14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4F1A2B3A-193D-E53C-B0E2-4CFCD0A8E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580" y="753730"/>
            <a:ext cx="6748829" cy="389665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1;p24">
            <a:extLst>
              <a:ext uri="{FF2B5EF4-FFF2-40B4-BE49-F238E27FC236}">
                <a16:creationId xmlns:a16="http://schemas.microsoft.com/office/drawing/2014/main" id="{C4FB70FA-0939-B291-4A8C-80385B36C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35286"/>
            <a:ext cx="8520598" cy="831299"/>
          </a:xfrm>
        </p:spPr>
        <p:txBody>
          <a:bodyPr/>
          <a:lstStyle/>
          <a:p>
            <a:pPr lvl="0"/>
            <a:r>
              <a:rPr lang="uk-UA" sz="3200"/>
              <a:t>Підсумки </a:t>
            </a:r>
          </a:p>
        </p:txBody>
      </p:sp>
      <p:sp>
        <p:nvSpPr>
          <p:cNvPr id="3" name="Google Shape;142;p24">
            <a:extLst>
              <a:ext uri="{FF2B5EF4-FFF2-40B4-BE49-F238E27FC236}">
                <a16:creationId xmlns:a16="http://schemas.microsoft.com/office/drawing/2014/main" id="{7640BD19-1E47-F996-6D92-14703A8C5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2924" y="1467200"/>
            <a:ext cx="6934919" cy="3354000"/>
          </a:xfrm>
        </p:spPr>
        <p:txBody>
          <a:bodyPr/>
          <a:lstStyle/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ru-RU" sz="1400">
                <a:latin typeface="Arial" pitchFamily="34"/>
                <a:cs typeface="Arial" pitchFamily="34"/>
              </a:rPr>
              <a:t>  Розроблено клієнтську частину вебсистеми HiredIn для пошуку роботи;</a:t>
            </a:r>
            <a:endParaRPr lang="uk-UA" sz="1400">
              <a:latin typeface="Arial" pitchFamily="34"/>
              <a:cs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ru-RU" sz="1400">
                <a:latin typeface="Arial" pitchFamily="34"/>
                <a:cs typeface="Arial" pitchFamily="34"/>
              </a:rPr>
              <a:t>  Реалізовано інтерфейси для кандидатів, роботодавців та гостей системи;</a:t>
            </a:r>
            <a:endParaRPr lang="uk-UA" sz="1400">
              <a:latin typeface="Arial" pitchFamily="34"/>
              <a:cs typeface="Arial" pitchFamily="34"/>
            </a:endParaRP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  <a:cs typeface="Arial" pitchFamily="34"/>
              </a:rPr>
              <a:t>  Забезпечено роботу з вакансіями, резюме, заявками, чатами та сповіщеннями;</a:t>
            </a:r>
          </a:p>
          <a:p>
            <a:pPr marL="0" lvl="0" indent="0" algn="just" hangingPunct="0">
              <a:lnSpc>
                <a:spcPct val="150000"/>
              </a:lnSpc>
              <a:buSzPct val="100000"/>
              <a:buChar char="•"/>
            </a:pPr>
            <a:r>
              <a:rPr lang="uk-UA" sz="1400">
                <a:latin typeface="Arial" pitchFamily="34"/>
                <a:cs typeface="Arial" pitchFamily="34"/>
              </a:rPr>
              <a:t>  Реалізовано адаптивний інтерфейс для різних пристроїв. </a:t>
            </a:r>
          </a:p>
          <a:p>
            <a:pPr marL="0" lvl="0" indent="0">
              <a:lnSpc>
                <a:spcPct val="150000"/>
              </a:lnSpc>
              <a:buNone/>
            </a:pPr>
            <a:endParaRPr lang="uk-UA"/>
          </a:p>
        </p:txBody>
      </p:sp>
      <p:pic>
        <p:nvPicPr>
          <p:cNvPr id="4" name="Google Shape;143;p24">
            <a:extLst>
              <a:ext uri="{FF2B5EF4-FFF2-40B4-BE49-F238E27FC236}">
                <a16:creationId xmlns:a16="http://schemas.microsoft.com/office/drawing/2014/main" id="{F51AF846-C729-F8D0-6664-72D4F0195D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2"/>
            <a:ext cx="862251" cy="5817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F7B4430A-FC61-BDDB-CCB8-25FE6358FD69}"/>
              </a:ext>
            </a:extLst>
          </p:cNvPr>
          <p:cNvSpPr txBox="1"/>
          <p:nvPr/>
        </p:nvSpPr>
        <p:spPr>
          <a:xfrm>
            <a:off x="8778240" y="4606344"/>
            <a:ext cx="284049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8ADCCFB-E8ED-4DF3-848F-A8F370708386}" type="slidenum">
              <a:t>15</a:t>
            </a:fld>
            <a:endParaRPr lang="uk-UA" sz="1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1134</TotalTime>
  <Words>370</Words>
  <Application>Microsoft Office PowerPoint</Application>
  <PresentationFormat>Широкий екран</PresentationFormat>
  <Paragraphs>63</Paragraphs>
  <Slides>15</Slides>
  <Notes>15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0" baseType="lpstr">
      <vt:lpstr>Aptos</vt:lpstr>
      <vt:lpstr>Arial</vt:lpstr>
      <vt:lpstr>Economica</vt:lpstr>
      <vt:lpstr>Open Sans</vt:lpstr>
      <vt:lpstr>Шаблон презентації кваліфікаційної роботи магістрів</vt:lpstr>
      <vt:lpstr>Програмна система для розміщення вакансій та пошуку роботи. Frontend</vt:lpstr>
      <vt:lpstr>Мета роботи</vt:lpstr>
      <vt:lpstr>Аналіз проблеми</vt:lpstr>
      <vt:lpstr> Аналіз існуючих рішень</vt:lpstr>
      <vt:lpstr>Постановка задачі та опис системи</vt:lpstr>
      <vt:lpstr>Вибір технологій розробки </vt:lpstr>
      <vt:lpstr>Засоби розробки</vt:lpstr>
      <vt:lpstr>Дизайн системи</vt:lpstr>
      <vt:lpstr>Фрагмент головної сторінки </vt:lpstr>
      <vt:lpstr>Фрагмент сторінки списку вакансій </vt:lpstr>
      <vt:lpstr>Фрагмент конструктора резюме </vt:lpstr>
      <vt:lpstr>Інтерфейс сторінки AI-рекомендацій</vt:lpstr>
      <vt:lpstr>Інтерфейс чату </vt:lpstr>
      <vt:lpstr>Фрагмент сторінки сповіщень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Віталій Шабалтас</dc:creator>
  <cp:lastModifiedBy>Віталій Шабалтас</cp:lastModifiedBy>
  <cp:revision>14</cp:revision>
  <dcterms:created xsi:type="dcterms:W3CDTF">2026-05-29T15:13:55Z</dcterms:created>
  <dcterms:modified xsi:type="dcterms:W3CDTF">2026-06-09T02:56:10Z</dcterms:modified>
</cp:coreProperties>
</file>